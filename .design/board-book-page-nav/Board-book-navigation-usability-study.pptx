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fe8fef2-d212-0a7c-190f-9bcd84539068}">
          <p14:sldIdLst>
            <p14:sldId id="256"/>
            <p14:sldId id="257"/>
          </p14:sldIdLst>
        </p14:section>
        <p14:section name="Findings" id="{a74db57b-b49f-6934-1c2d-43f5304c684c}">
          <p14:sldIdLst>
            <p14:sldId id="258"/>
            <p14:sldId id="259"/>
            <p14:sldId id="260"/>
          </p14:sldIdLst>
        </p14:section>
        <p14:section name="Task simulation" id="{3960691c-f4ab-a130-5b91-8c16c0cf1403}">
          <p14:sldIdLst>
            <p14:sldId id="261"/>
            <p14:sldId id="262"/>
            <p14:sldId id="263"/>
            <p14:sldId id="264"/>
          </p14:sldIdLst>
        </p14:section>
        <p14:section name="Metrics and analysis" id="{5f2c06b9-a968-3786-f92f-8706f0b39dda}">
          <p14:sldIdLst>
            <p14:sldId id="265"/>
            <p14:sldId id="266"/>
            <p14:sldId id="267"/>
            <p14:sldId id="268"/>
          </p14:sldIdLst>
        </p14:section>
        <p14:section name="Recommendations" id="{e4edff84-7c39-dd5d-b66f-b57ffac30f5d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+mn-lt"/>
              </a:rPr>
              <a:t>Average SEQ per user story (1–7, simulated)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 Full width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US01</c:v>
                  </c:pt>
                  <c:pt idx="1">
                    <c:v>US02</c:v>
                  </c:pt>
                  <c:pt idx="2">
                    <c:v>US03</c:v>
                  </c:pt>
                  <c:pt idx="3">
                    <c:v>US04</c:v>
                  </c:pt>
                  <c:pt idx="4">
                    <c:v>US05</c:v>
                  </c:pt>
                  <c:pt idx="5">
                    <c:v>US06</c:v>
                  </c:pt>
                  <c:pt idx="6">
                    <c:v>US07</c:v>
                  </c:pt>
                  <c:pt idx="7">
                    <c:v>US08</c:v>
                  </c:pt>
                  <c:pt idx="8">
                    <c:v>US09</c:v>
                  </c:pt>
                  <c:pt idx="9">
                    <c:v>US10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3</c:v>
                </c:pt>
                <c:pt idx="2">
                  <c:v>3.5</c:v>
                </c:pt>
                <c:pt idx="3">
                  <c:v>4</c:v>
                </c:pt>
                <c:pt idx="4">
                  <c:v>6.5</c:v>
                </c:pt>
                <c:pt idx="5">
                  <c:v>5</c:v>
                </c:pt>
                <c:pt idx="6">
                  <c:v>5.33</c:v>
                </c:pt>
                <c:pt idx="7">
                  <c:v>5</c:v>
                </c:pt>
                <c:pt idx="8">
                  <c:v>3.5</c:v>
                </c:pt>
                <c:pt idx="9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 Floating controls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US01</c:v>
                  </c:pt>
                  <c:pt idx="1">
                    <c:v>US02</c:v>
                  </c:pt>
                  <c:pt idx="2">
                    <c:v>US03</c:v>
                  </c:pt>
                  <c:pt idx="3">
                    <c:v>US04</c:v>
                  </c:pt>
                  <c:pt idx="4">
                    <c:v>US05</c:v>
                  </c:pt>
                  <c:pt idx="5">
                    <c:v>US06</c:v>
                  </c:pt>
                  <c:pt idx="6">
                    <c:v>US07</c:v>
                  </c:pt>
                  <c:pt idx="7">
                    <c:v>US08</c:v>
                  </c:pt>
                  <c:pt idx="8">
                    <c:v>US09</c:v>
                  </c:pt>
                  <c:pt idx="9">
                    <c:v>US10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</c:v>
                </c:pt>
                <c:pt idx="1">
                  <c:v>6</c:v>
                </c:pt>
                <c:pt idx="2">
                  <c:v>4.75</c:v>
                </c:pt>
                <c:pt idx="3">
                  <c:v>6.33</c:v>
                </c:pt>
                <c:pt idx="4">
                  <c:v>5.5</c:v>
                </c:pt>
                <c:pt idx="5">
                  <c:v>4.33</c:v>
                </c:pt>
                <c:pt idx="6">
                  <c:v>5.67</c:v>
                </c:pt>
                <c:pt idx="7">
                  <c:v>5</c:v>
                </c:pt>
                <c:pt idx="8">
                  <c:v>3</c:v>
                </c:pt>
                <c:pt idx="9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V3 Reading mode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US01</c:v>
                  </c:pt>
                  <c:pt idx="1">
                    <c:v>US02</c:v>
                  </c:pt>
                  <c:pt idx="2">
                    <c:v>US03</c:v>
                  </c:pt>
                  <c:pt idx="3">
                    <c:v>US04</c:v>
                  </c:pt>
                  <c:pt idx="4">
                    <c:v>US05</c:v>
                  </c:pt>
                  <c:pt idx="5">
                    <c:v>US06</c:v>
                  </c:pt>
                  <c:pt idx="6">
                    <c:v>US07</c:v>
                  </c:pt>
                  <c:pt idx="7">
                    <c:v>US08</c:v>
                  </c:pt>
                  <c:pt idx="8">
                    <c:v>US09</c:v>
                  </c:pt>
                  <c:pt idx="9">
                    <c:v>US10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5.5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6.5</c:v>
                </c:pt>
                <c:pt idx="5">
                  <c:v>5.33</c:v>
                </c:pt>
                <c:pt idx="6">
                  <c:v>5</c:v>
                </c:pt>
                <c:pt idx="7">
                  <c:v>5</c:v>
                </c:pt>
                <c:pt idx="8">
                  <c:v>4.5</c:v>
                </c:pt>
                <c:pt idx="9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93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BD5E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E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Book Navigation — Usability Evaluation · Synthetic study · CONFIDENTIAL – INTERNAL USE ONLY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</a:rPr>
              <a:t>USABILITY EVALUATION REPORT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Book Navigation — 3 Variants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Board Portal · 2026-10-19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Synthetic Persona Usability Study | NN/G Methodology | 4 Personas | 10 User Stories | 3 Variants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CONFIDENTIAL – INTERNAL USE ONLY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000" dirty="0"/>
          </a:p>
        </p:txBody>
      </p:sp>
      <p:sp>
        <p:nvSpPr>
          <p:cNvPr id="3" name="TOC dot 1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Executive summary</a:t>
            </a:r>
            <a:endParaRPr lang="en-US" sz="1800" dirty="0"/>
          </a:p>
        </p:txBody>
      </p:sp>
      <p:sp>
        <p:nvSpPr>
          <p:cNvPr id="6" name="TOC dot 2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286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Personas</a:t>
            </a:r>
            <a:endParaRPr lang="en-US" sz="1800" dirty="0"/>
          </a:p>
        </p:txBody>
      </p:sp>
      <p:sp>
        <p:nvSpPr>
          <p:cNvPr id="9" name="TOC dot 3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00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Research goals and user stories</a:t>
            </a:r>
            <a:endParaRPr lang="en-US" sz="1800" dirty="0"/>
          </a:p>
        </p:txBody>
      </p:sp>
      <p:sp>
        <p:nvSpPr>
          <p:cNvPr id="12" name="TOC dot 4"/>
          <p:cNvSpPr/>
          <p:nvPr/>
        </p:nvSpPr>
        <p:spPr>
          <a:xfrm>
            <a:off x="548640" y="411480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14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Task simulation</a:t>
            </a:r>
            <a:endParaRPr lang="en-US" sz="1800" dirty="0"/>
          </a:p>
        </p:txBody>
      </p:sp>
      <p:sp>
        <p:nvSpPr>
          <p:cNvPr id="15" name="TOC dot 5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029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Simulated metrics</a:t>
            </a:r>
            <a:endParaRPr lang="en-US" sz="1800" dirty="0"/>
          </a:p>
        </p:txBody>
      </p:sp>
      <p:sp>
        <p:nvSpPr>
          <p:cNvPr id="18" name="TOC dot 6"/>
          <p:cNvSpPr/>
          <p:nvPr/>
        </p:nvSpPr>
        <p:spPr>
          <a:xfrm>
            <a:off x="6217920" y="137160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1371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Cross-persona pattern analysis</a:t>
            </a:r>
            <a:endParaRPr lang="en-US" sz="1800" dirty="0"/>
          </a:p>
        </p:txBody>
      </p:sp>
      <p:sp>
        <p:nvSpPr>
          <p:cNvPr id="21" name="TOC dot 7"/>
          <p:cNvSpPr/>
          <p:nvPr/>
        </p:nvSpPr>
        <p:spPr>
          <a:xfrm>
            <a:off x="6217920" y="228600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286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Heuristic assessment</a:t>
            </a:r>
            <a:endParaRPr lang="en-US" sz="1800" dirty="0"/>
          </a:p>
        </p:txBody>
      </p:sp>
      <p:sp>
        <p:nvSpPr>
          <p:cNvPr id="24" name="TOC dot 8"/>
          <p:cNvSpPr/>
          <p:nvPr/>
        </p:nvSpPr>
        <p:spPr>
          <a:xfrm>
            <a:off x="6217920" y="320040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3200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Severity matrix</a:t>
            </a:r>
            <a:endParaRPr lang="en-US" sz="1800" dirty="0"/>
          </a:p>
        </p:txBody>
      </p:sp>
      <p:sp>
        <p:nvSpPr>
          <p:cNvPr id="27" name="TOC dot 9"/>
          <p:cNvSpPr/>
          <p:nvPr/>
        </p:nvSpPr>
        <p:spPr>
          <a:xfrm>
            <a:off x="6217920" y="411480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4114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Prioritized recommendations</a:t>
            </a:r>
            <a:endParaRPr lang="en-US" sz="1800" dirty="0"/>
          </a:p>
        </p:txBody>
      </p:sp>
      <p:sp>
        <p:nvSpPr>
          <p:cNvPr id="30" name="TOC dot 10"/>
          <p:cNvSpPr/>
          <p:nvPr/>
        </p:nvSpPr>
        <p:spPr>
          <a:xfrm>
            <a:off x="6217920" y="502920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5029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Next testing iteration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Stat v1"/>
          <p:cNvSpPr/>
          <p:nvPr/>
        </p:nvSpPr>
        <p:spPr>
          <a:xfrm>
            <a:off x="548640" y="118872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7F9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V1 Full width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F3D"/>
                </a:solidFill>
              </a:rPr>
              <a:t>4.5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 / 7 SEQ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Task success 77%</a:t>
            </a:r>
            <a:endParaRPr lang="en-US" sz="1200" dirty="0"/>
          </a:p>
        </p:txBody>
      </p:sp>
      <p:sp>
        <p:nvSpPr>
          <p:cNvPr id="7" name="Stat v2"/>
          <p:cNvSpPr/>
          <p:nvPr/>
        </p:nvSpPr>
        <p:spPr>
          <a:xfrm>
            <a:off x="3383280" y="118872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7F9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V2 Floating controls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645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F3D"/>
                </a:solidFill>
              </a:rPr>
              <a:t>4.9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 / 7 SEQ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Task success 85%</a:t>
            </a:r>
            <a:endParaRPr lang="en-US" sz="1200" dirty="0"/>
          </a:p>
        </p:txBody>
      </p:sp>
      <p:sp>
        <p:nvSpPr>
          <p:cNvPr id="11" name="Stat v3"/>
          <p:cNvSpPr/>
          <p:nvPr/>
        </p:nvSpPr>
        <p:spPr>
          <a:xfrm>
            <a:off x="6217920" y="118872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E6F4F1"/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V3 Reading mode · best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1645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F3D"/>
                </a:solidFill>
              </a:rPr>
              <a:t>5.1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 / 7 SEQ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Task success 94%</a:t>
            </a:r>
            <a:endParaRPr lang="en-US" sz="1200" dirty="0"/>
          </a:p>
        </p:txBody>
      </p:sp>
      <p:sp>
        <p:nvSpPr>
          <p:cNvPr id="15" name="Stat issues"/>
          <p:cNvSpPr/>
          <p:nvPr/>
        </p:nvSpPr>
        <p:spPr>
          <a:xfrm>
            <a:off x="9052560" y="11887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BEAEA"/>
          </a:solidFill>
          <a:ln w="9525">
            <a:solidFill>
              <a:srgbClr val="B832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35440" y="13716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3232"/>
                </a:solidFill>
              </a:rPr>
              <a:t>1 Critical</a:t>
            </a:r>
            <a:endParaRPr lang="en-US" sz="2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4 High · 2 heuristics violated</a:t>
            </a:r>
            <a:endParaRPr lang="en-US" sz="2400" dirty="0"/>
          </a:p>
        </p:txBody>
      </p:sp>
      <p:sp>
        <p:nvSpPr>
          <p:cNvPr id="17" name="Tag 1"/>
          <p:cNvSpPr/>
          <p:nvPr/>
        </p:nvSpPr>
        <p:spPr>
          <a:xfrm>
            <a:off x="548640" y="315468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CRITICAL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3108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Document end is silent and the only way on is a control labelled 'Next page' — Patricia stops reading in V1; David hesitates.</a:t>
            </a:r>
            <a:endParaRPr lang="en-US" sz="1400" dirty="0"/>
          </a:p>
        </p:txBody>
      </p:sp>
      <p:sp>
        <p:nvSpPr>
          <p:cNvPr id="20" name="Tag 2"/>
          <p:cNvSpPr/>
          <p:nvPr/>
        </p:nvSpPr>
        <p:spPr>
          <a:xfrm>
            <a:off x="548640" y="3776472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776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011680" y="37307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V1 places next/previous in the top toolbar with vertical ⌄ / ⌃ icons.</a:t>
            </a:r>
            <a:endParaRPr lang="en-US" sz="1400" dirty="0"/>
          </a:p>
        </p:txBody>
      </p:sp>
      <p:sp>
        <p:nvSpPr>
          <p:cNvPr id="23" name="Tag 3"/>
          <p:cNvSpPr/>
          <p:nvPr/>
        </p:nvSpPr>
        <p:spPr>
          <a:xfrm>
            <a:off x="548640" y="4398264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3982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435254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Global counter 'N / 7' beside a single-document view.</a:t>
            </a:r>
            <a:endParaRPr lang="en-US" sz="1400" dirty="0"/>
          </a:p>
        </p:txBody>
      </p:sp>
      <p:sp>
        <p:nvSpPr>
          <p:cNvPr id="26" name="Tag 4"/>
          <p:cNvSpPr/>
          <p:nvPr/>
        </p:nvSpPr>
        <p:spPr>
          <a:xfrm>
            <a:off x="548640" y="5020056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2C9C74"/>
          </a:solidFill>
          <a:ln w="12700">
            <a:solidFill>
              <a:srgbClr val="2C9C7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50200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STRENGTH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011680" y="497433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V3 keeps every navigation action in one always-visible bar where reading ends — best SEQ for 3 of 4 personas.</a:t>
            </a:r>
            <a:endParaRPr lang="en-US" sz="1400" dirty="0"/>
          </a:p>
        </p:txBody>
      </p:sp>
      <p:sp>
        <p:nvSpPr>
          <p:cNvPr id="29" name="Tag 5"/>
          <p:cNvSpPr/>
          <p:nvPr/>
        </p:nvSpPr>
        <p:spPr>
          <a:xfrm>
            <a:off x="548640" y="5641848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2C9C74"/>
          </a:solidFill>
          <a:ln w="12700">
            <a:solidFill>
              <a:srgbClr val="2C9C7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6418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STRENGTH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011680" y="55961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V2's open agenda makes jumping to an agenda item's documents effortless (US04).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Personas — same goal, different proficiency</a:t>
            </a:r>
            <a:endParaRPr lang="en-US" sz="3000" dirty="0"/>
          </a:p>
        </p:txBody>
      </p:sp>
      <p:sp>
        <p:nvSpPr>
          <p:cNvPr id="3" name="Persona MC"/>
          <p:cNvSpPr/>
          <p:nvPr/>
        </p:nvSpPr>
        <p:spPr>
          <a:xfrm>
            <a:off x="548640" y="1188720"/>
            <a:ext cx="2651760" cy="5029200"/>
          </a:xfrm>
          <a:prstGeom prst="roundRect">
            <a:avLst>
              <a:gd name="adj" fmla="val 4138"/>
            </a:avLst>
          </a:prstGeom>
          <a:solidFill>
            <a:srgbClr val="F7F9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640080" cy="6400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MC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325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3D"/>
                </a:solidFill>
              </a:rPr>
              <a:t>Margaret Chen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Corporate Secretary · High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2286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SEQ V1/V2/V3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6.0 / 5.8 / 5.8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Success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100% / 100% / 100%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Goal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Check the final board pack end to end before it goes to directors.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Mental model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Keyboard shortcuts, dense toolbars, Notion/Acrobat-like patterns.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Risk behaviour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Impatient with extra steps; skims past labels.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Emotional profile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Methodical; low tolerance for ambiguity.</a:t>
            </a:r>
            <a:endParaRPr lang="en-US" sz="1000" dirty="0"/>
          </a:p>
        </p:txBody>
      </p:sp>
      <p:sp>
        <p:nvSpPr>
          <p:cNvPr id="8" name="Persona DO"/>
          <p:cNvSpPr/>
          <p:nvPr/>
        </p:nvSpPr>
        <p:spPr>
          <a:xfrm>
            <a:off x="3364992" y="1188720"/>
            <a:ext cx="2651760" cy="5029200"/>
          </a:xfrm>
          <a:prstGeom prst="roundRect">
            <a:avLst>
              <a:gd name="adj" fmla="val 4138"/>
            </a:avLst>
          </a:prstGeom>
          <a:solidFill>
            <a:srgbClr val="F7F9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47872" y="1371600"/>
            <a:ext cx="640080" cy="6400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2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79392" y="1325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3D"/>
                </a:solidFill>
              </a:rPr>
              <a:t>David Okafor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Corporate Secretary · Medium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194560"/>
            <a:ext cx="2286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SEQ V1/V2/V3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4.7 / 4.7 / 5.2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Success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83% / 83% / 100%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Goal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Review the pack and annotate items that need the Chair's attention.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Mental model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Explicit toolbar buttons and labelled Next / Previous.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Risk behaviour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Hesitates when something changes without explanation.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Emotional profile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Cautious; fears missing a document in a legal pack.</a:t>
            </a:r>
            <a:endParaRPr lang="en-US" sz="1000" dirty="0"/>
          </a:p>
        </p:txBody>
      </p:sp>
      <p:sp>
        <p:nvSpPr>
          <p:cNvPr id="13" name="Persona PR"/>
          <p:cNvSpPr/>
          <p:nvPr/>
        </p:nvSpPr>
        <p:spPr>
          <a:xfrm>
            <a:off x="6181344" y="1188720"/>
            <a:ext cx="2651760" cy="5029200"/>
          </a:xfrm>
          <a:prstGeom prst="roundRect">
            <a:avLst>
              <a:gd name="adj" fmla="val 4138"/>
            </a:avLst>
          </a:prstGeom>
          <a:solidFill>
            <a:srgbClr val="F7F9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64224" y="1371600"/>
            <a:ext cx="640080" cy="6400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64224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095744" y="1325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3D"/>
                </a:solidFill>
              </a:rPr>
              <a:t>Patricia Reyes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Corporate Secretary · Low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2194560"/>
            <a:ext cx="2286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SEQ V1/V2/V3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3.2 / 4.3 / 4.3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Success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42% / 67% / 75%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Goal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Open the pack and read the documents for one agenda item.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Mental model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A visible, labelled button for every action; step by step.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Risk behaviour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Ignores icon-only controls; never opens ⋯ menus.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Emotional profile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Anxious; needs plain language.</a:t>
            </a:r>
            <a:endParaRPr lang="en-US" sz="1000" dirty="0"/>
          </a:p>
        </p:txBody>
      </p:sp>
      <p:sp>
        <p:nvSpPr>
          <p:cNvPr id="18" name="Persona DIR"/>
          <p:cNvSpPr/>
          <p:nvPr/>
        </p:nvSpPr>
        <p:spPr>
          <a:xfrm>
            <a:off x="8997696" y="1188720"/>
            <a:ext cx="2651760" cy="5029200"/>
          </a:xfrm>
          <a:prstGeom prst="roundRect">
            <a:avLst>
              <a:gd name="adj" fmla="val 4138"/>
            </a:avLst>
          </a:prstGeom>
          <a:solidFill>
            <a:srgbClr val="F7F9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80576" y="1371600"/>
            <a:ext cx="640080" cy="6400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0576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RH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912096" y="1325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3D"/>
                </a:solidFill>
              </a:rPr>
              <a:t>Robert Hale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Director / Board Member · Occasional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180576" y="2194560"/>
            <a:ext cx="2286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SEQ V1/V2/V3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4.3 / 4.7 / 5.0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Success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83% / 92% / 100%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Goal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Read the pack on iPad the evening before the meeting and mark questions.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Mental model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Reading app: swipe or tap to turn pages, everything within thumb reach.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Risk behaviour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No keyboard; low patience for admin-style UI.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Emotional profile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Time-poor; wants the right document fast.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goals and user stories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</a:rPr>
              <a:t>Research goals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4023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G1  Assess orientation: can each persona tell which document and page they are on (H1 visibility of system status).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G2  Identify breakdown moments at document boundaries under the one-document-at-a-time constraint.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G3  Evaluate control placement: travel distance from the point of reading to the 'continue' action, per variant.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G4  Measure cognitive load of each layout (number of control zones, icon-only actions, hidden affordances).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G5  Quantify simulated task success and SEQ per user story, persona and variant.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1430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</a:rPr>
              <a:t>User stories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554480"/>
            <a:ext cx="66751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US01  I want to see which document and page I am on, so I don't lose my place.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US02  I want to read a document page by page without hunting for controls.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US03  I want to continue to the next document when I reach the end of the current one.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US04  I want to jump straight to the documents of a specific agenda item.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US05  I want to go to a page number someone mentions in the meeting.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US06  I want to zoom or fit a dense table so I can read the figures.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US07  I want to highlight or comment on a passage to discuss it later.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US08  I want to search the board book for a term.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US09  I want to read comfortably on a tablet or phone.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US10  I want to go back to the previous document.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simulation — Margaret Chen (High)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011680"/>
                <a:gridCol w="3657600"/>
                <a:gridCol w="2651760"/>
                <a:gridCol w="100584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 observed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 V1/V2/V3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V1/V2/V3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pack to spot-check the cover.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dropdown and N / 7 instantly in all variants.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V2: document name (top) and page (bottom) sit far apart.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5 /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✔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Finishes 'Opening, quorum, and minutes' and wants the CEO report.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Presses → on the keyboard; the next document loads.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for her — the keyboard hint tells her ← → works.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6 /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✔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Jumps to item 4 to verify the audit motion wording.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V2: clicks the document in the open agenda. V1/V3: opens the document dropdown instead of the panel.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V1/V3: agenda closed by default; one extra step.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7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✔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'Look at page 6' — types the number.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 6 in the page field.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V2: field is at the bottom, she looks at the top first.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6 / 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✔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the cash-flow table on page 5.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zoom-in; then Fit width.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V2: zoom shows '100%' while the sheet is already scaled to fit the split view.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5 /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✔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Highlights the auditor recommendation.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Highlight; V3 she also looks for Draw.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V3: no Draw tool.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6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✔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simulation — David Okafor (Medium)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011680"/>
                <a:gridCol w="3657600"/>
                <a:gridCol w="2651760"/>
                <a:gridCol w="100584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 observed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 V1/V2/V3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V1/V2/V3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pack on the cover.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'Cover and agenda.pdf' and '1 / 7' and assumes the cover has 7 pages.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counter next to a single-document view (all variants); V3's progress bar partly helps.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4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⚠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 the bottom of 'Opening, quorum, and minutes'.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Scrolls, nothing more appears; thinks the pack failed to load. V1: finds ⌄ at the top, unsure it means 'next document'. V2: clicks › beside the sheet. V3: › is right under where he stopped.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document end; 'Next page' tooltip never says a new document opens.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4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 ⚠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Chair says 'page 6'.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 6.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5 /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✔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Zooms the KPI table.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Clicks + twice.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V2: two separate cards (zoom / view) — unsure which 'fit' icon to use.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4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✔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 on the retention bonus pool.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Comment and clicks the sheet.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confirmation that the comment pin was saved (all variants).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6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✔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Wants to re-check the previous document.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V1: ⌃ at the top; V2/V3: ‹.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V1: ⌃ reads as 'collapse', not 'previous document'.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5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 ✔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simulation — Patricia Reyes (Low)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011680"/>
                <a:gridCol w="3657600"/>
                <a:gridCol w="2651760"/>
                <a:gridCol w="100584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 observed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 V1/V2/V3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V1/V2/V3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pack for the first time.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Scans for words; finds the document name but not what the number means.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V2: controls in four places (left palette, right cards, side arrows, bottom counter).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3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 ⚠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CEO report page by page.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Looks for a 'next' button. V1: thinks ⌄ opens a list. V2: big round › is obvious. V3: › in the bottom bar.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V1: vertical chevrons look like dropdown toggles.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6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 ✔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Gets to the end of the minutes document.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V1: believes the pack has ended and stops. V2/V3: notices the › arrow after a pause and tries it.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signals that more documents follow; V1's continue control is far away at the top.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4 /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⚠  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the Audit committee report for item 4.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V2: clicks it in the agenda list. V1/V3: doesn't recognise the sidebar icon; eventually tries the document field.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 hidden behind an unlabeled icon.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6 /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 ✔  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financial table is too small.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Looks for a magnifier with '+'.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V1: icon-only card; V3: '− 100% +' reads clearly.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 ⚠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pack on her phone.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Can't find Highlight (V1/V3: inside ⋯); V2 cards cover the text.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⋯ menu; floating cards over the sheet on small screens.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3 /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 ⚠  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simulation — Robert Hale (Occasional)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011680"/>
                <a:gridCol w="3657600"/>
                <a:gridCol w="2651760"/>
                <a:gridCol w="100584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 observed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 V1/V2/V3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V1/V2/V3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pack on iPad the night before.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Wants to know how much is left.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V3 shows progress; V2 counter is small at the bottom.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4 /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✔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Finishes the CEO report, wants the financials.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keyboard. V1: has to reach the top toolbar. V2: taps › beside the sheet. V3: taps › in the bottom bar (thumb zone).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V1: continue control outside thumb reach and unlabeled.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5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 ✔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Goes straight to the audit committee report.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V2: agenda already open. V1/V3: uses the document dropdown.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V1/V3: dropdown list is long for a quick jump.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6 /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✔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a question on the auditor fee.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Highlight, then comment.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Icon-only tools; tooltips don't show on touch.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✔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Searches for 'Halden'.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Taps the search icon.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significant.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✔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on iPad in portrait.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Scrolls with one hand.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V2: floating cards cover the sheet margins at tablet width.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3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 ⚠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 metrics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43000"/>
          <a:ext cx="676656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280160"/>
          <a:ext cx="4023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Margaret Chen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 · 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 · 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 · 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Okafor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 · 83%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 · 83%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 · 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Patricia Reyes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 · 42%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 · 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 · 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 Hale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 · 83%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 · 92%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· 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 · 77%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 · 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 · 94%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589520" y="3931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SEQ (1–7) · task success (Success 1, Partial 0.5, Failure 0). All numbers are simulated.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Cross-persona pattern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</a:rPr>
              <a:t>Shared breakdown points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The end of a document is silent in every variant: nothing below the last page and the 'next' control is labelled 'Next page', so no persona is told that another document follows.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The global counter 'N / 7' sits next to a single-document view, so David and Patricia misread how long the current document is.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All navigation and tool controls are icon-only; tooltips need hover, so they don't help Patricia or Robert on iPad.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94560"/>
                <a:gridCol w="219456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Margaret (High)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(Medium)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Patricia (Low)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 (Occasional)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to next 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Keyboard → — no friction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Hesitates; V3 easiest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V1: gives up; V2/V3: finds › after a pause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thumb reach — V2/V3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 (contents)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Prefers dropdown anyway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it when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usable when already open (V2)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 it open (V2)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Zoom / 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variant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Confused by V2's two cards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V3's '− 100% +'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Pinch-zoom expected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⋯ menu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it after a pause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opens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 needs it on iPad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 assessment (NN/G)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  <a:gridCol w="6675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Visibility of system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32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end is silent; global N / 7 misread as document length (US01, US03).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 Match with the real world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⌄ / ⌃ read as dropdown/collapse, not page turns (US02, US10).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 User control and freedom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9C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page on the first page returns to the previous document; Esc leaves focus mode.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 Consistency and standards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Next/previous differs across variants (⌄⌃ vs ‹ ›); zoom % means different things (US06).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H6 Recognition rather than 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32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Icon-only controls, agenda behind an unlabeled icon, tools in ⋯ on mobile (US04, US09).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H7 Flexibility and efficiency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9C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Keyboard ← → crosses documents; page field accepts direct input (US03, US05).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H8 Aesthetic and minimalist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spreads controls across four zones; V3 consolidates them in one bar.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H9 Help users recover from errors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Patricia believes the pack ended, nothing helps her recover (US03, V1).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matrix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77240"/>
                <a:gridCol w="3657600"/>
                <a:gridCol w="548640"/>
                <a:gridCol w="2377440"/>
                <a:gridCol w="1234440"/>
                <a:gridCol w="109728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32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end is silent and the only way on is a control labelled 'Next page'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Patricia stops reading in V1; David hesitates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Stays stuck (PR, V1)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DO, PR, DIR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H1, H9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places next/previous in the top toolbar with vertical ⌄ / ⌃ icons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 from the reading end point; icons misread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DO, PR, DIR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H2, H4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counter 'N / 7' beside a single-document 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sense of document length and 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Self-recovers slowly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DO, 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H1, H2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Icon-only navigation and tools; tooltips need hover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Excludes low-proficiency and touch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PR, DIR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 closed by default behind an unlabeled sidebar icon (V1, V3)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Patricia can't jump to an agenda item's documents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PR, DIR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spreads controls over four zones and over the sheet on tablet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Scanning cost; covered margins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Self-recovers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DO, PR, DIR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Zoom % meaning differs (V2 '100%' while fitted; V3 '54%' default on phone)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Unsure what 'actual size' 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Self-recovers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DO, 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Mobile: tools collapse into an unlabeled ⋯ (V1, V3)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Patricia never finds Highlight on the phone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Stays stuck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 focus-mode icon (⌃⌄ 'expand') is ambiguous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 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Self-recovers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 has no Draw tool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Feature-parity gap for power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Self-recovers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Prioritized recommendations</a:t>
            </a:r>
            <a:endParaRPr lang="en-US" sz="3000" dirty="0"/>
          </a:p>
        </p:txBody>
      </p:sp>
      <p:sp>
        <p:nvSpPr>
          <p:cNvPr id="3" name="Rec R1"/>
          <p:cNvSpPr/>
          <p:nvPr/>
        </p:nvSpPr>
        <p:spPr>
          <a:xfrm>
            <a:off x="548640" y="118872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7F9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E1F3D"/>
                </a:solidFill>
              </a:rPr>
              <a:t>R1  Make the document boundary visible inside the navigation panel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On the last page of a document the next control becomes a labelled DS Button 'Next document: &lt;name&gt; ›' (and 'Previous document' on the first page); tooltip says the same.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Effort Low · DO, PR, DIR</a:t>
            </a:r>
            <a:endParaRPr lang="en-US" sz="13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</a:rPr>
              <a:t>Target: US03 success 71% → 90%+; PR US03 SEQ 3.3 → 5.0+</a:t>
            </a:r>
            <a:endParaRPr lang="en-US" sz="1300" dirty="0"/>
          </a:p>
        </p:txBody>
      </p:sp>
      <p:sp>
        <p:nvSpPr>
          <p:cNvPr id="5" name="Rec R2"/>
          <p:cNvSpPr/>
          <p:nvPr/>
        </p:nvSpPr>
        <p:spPr>
          <a:xfrm>
            <a:off x="4270248" y="118872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7F9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53128" y="132588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E1F3D"/>
                </a:solidFill>
              </a:rPr>
              <a:t>R2  Use V3's bottom bar as the primary navigation location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Keep ‹ N / 7 › at the bottom where reading ends; in V1 replace ⌄ / ⌃ with ‹ ›.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Effort Med · All</a:t>
            </a:r>
            <a:endParaRPr lang="en-US" sz="13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</a:rPr>
              <a:t>Target: US02 avg SEQ 4.7 → 5.5+</a:t>
            </a:r>
            <a:endParaRPr lang="en-US" sz="1300" dirty="0"/>
          </a:p>
        </p:txBody>
      </p:sp>
      <p:sp>
        <p:nvSpPr>
          <p:cNvPr id="7" name="Rec R3"/>
          <p:cNvSpPr/>
          <p:nvPr/>
        </p:nvSpPr>
        <p:spPr>
          <a:xfrm>
            <a:off x="7991856" y="118872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7F9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74736" y="132588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E1F3D"/>
                </a:solidFill>
              </a:rPr>
              <a:t>R3  Show local and global position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'Page 1 of 2 · 4 / 7' in the counter; document name next to it.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Effort Low · DO, PR</a:t>
            </a:r>
            <a:endParaRPr lang="en-US" sz="13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</a:rPr>
              <a:t>Target: US01 avg SEQ 4.8 → 6.0</a:t>
            </a:r>
            <a:endParaRPr lang="en-US" sz="1300" dirty="0"/>
          </a:p>
        </p:txBody>
      </p:sp>
      <p:sp>
        <p:nvSpPr>
          <p:cNvPr id="9" name="Rec R4"/>
          <p:cNvSpPr/>
          <p:nvPr/>
        </p:nvSpPr>
        <p:spPr>
          <a:xfrm>
            <a:off x="548640" y="374904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7F9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88620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E1F3D"/>
                </a:solidFill>
              </a:rPr>
              <a:t>R4  Label the primary actions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Text labels on Previous / Next at ≥1024px; persistent labels instead of hover-only tooltips on touch.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Effort Med · PR, DIR</a:t>
            </a:r>
            <a:endParaRPr lang="en-US" sz="13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</a:rPr>
              <a:t>Target: PR task success 61% → 75%+</a:t>
            </a:r>
            <a:endParaRPr lang="en-US" sz="1300" dirty="0"/>
          </a:p>
        </p:txBody>
      </p:sp>
      <p:sp>
        <p:nvSpPr>
          <p:cNvPr id="11" name="Rec R5"/>
          <p:cNvSpPr/>
          <p:nvPr/>
        </p:nvSpPr>
        <p:spPr>
          <a:xfrm>
            <a:off x="4270248" y="374904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7F9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53128" y="388620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E1F3D"/>
                </a:solidFill>
              </a:rPr>
              <a:t>R5  Open the agenda by default on wide screens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In V3 open the agenda panel by default at ≥1280px (as V2), with a labelled toggle 'Agenda'.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Effort Med · PR, DIR</a:t>
            </a:r>
            <a:endParaRPr lang="en-US" sz="13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</a:rPr>
              <a:t>Target: US04 PR SEQ 3 → 6</a:t>
            </a:r>
            <a:endParaRPr lang="en-US" sz="1300" dirty="0"/>
          </a:p>
        </p:txBody>
      </p:sp>
      <p:sp>
        <p:nvSpPr>
          <p:cNvPr id="13" name="Rec R6"/>
          <p:cNvSpPr/>
          <p:nvPr/>
        </p:nvSpPr>
        <p:spPr>
          <a:xfrm>
            <a:off x="7991856" y="374904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7F9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74736" y="388620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E1F3D"/>
                </a:solidFill>
              </a:rPr>
              <a:t>R6  Align zoom semantics and label the mobile menu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Show 'Fit' when fitted; 100% = sheet's natural width; label ⋯ as 'More tools'.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Effort Low · DO, PR</a:t>
            </a:r>
            <a:endParaRPr lang="en-US" sz="13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</a:rPr>
              <a:t>Target: US06 avg SEQ 4.9 → 5.5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testing iteration</a:t>
            </a:r>
            <a:endParaRPr lang="en-US" sz="3000" dirty="0"/>
          </a:p>
        </p:txBody>
      </p:sp>
      <p:sp>
        <p:nvSpPr>
          <p:cNvPr id="3" name="Phase 1"/>
          <p:cNvSpPr/>
          <p:nvPr/>
        </p:nvSpPr>
        <p:spPr>
          <a:xfrm>
            <a:off x="548640" y="118872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6F4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1F3D"/>
                </a:solidFill>
              </a:rPr>
              <a:t>Phase 1 — Validation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After sprint 1, re-test I-01…I-05 fixes on V3 with the same persona types.</a:t>
            </a:r>
            <a:endParaRPr lang="en-US" sz="1400" dirty="0"/>
          </a:p>
        </p:txBody>
      </p:sp>
      <p:sp>
        <p:nvSpPr>
          <p:cNvPr id="5" name="Phase 2"/>
          <p:cNvSpPr/>
          <p:nvPr/>
        </p:nvSpPr>
        <p:spPr>
          <a:xfrm>
            <a:off x="4270248" y="118872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7F9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53128" y="13258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1F3D"/>
                </a:solidFill>
              </a:rPr>
              <a:t>Phase 2 — Breadth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Add iPad and phone tasks; recruit 2 real users per persona type (incl. 2 directors).</a:t>
            </a:r>
            <a:endParaRPr lang="en-US" sz="1400" dirty="0"/>
          </a:p>
        </p:txBody>
      </p:sp>
      <p:sp>
        <p:nvSpPr>
          <p:cNvPr id="7" name="Phase 3"/>
          <p:cNvSpPr/>
          <p:nvPr/>
        </p:nvSpPr>
        <p:spPr>
          <a:xfrm>
            <a:off x="7991856" y="118872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7F9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74736" y="13258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1F3D"/>
                </a:solidFill>
              </a:rPr>
              <a:t>Phase 3 — Longitudinal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Learnability over 3 meeting cycles; diary study with directors reading packs at home.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83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</a:rPr>
              <a:t>Open research questions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9476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Do directors read packs linearly or jump by agenda item?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Is a labelled 'Next document' enough, or do readers expect the next document to load automatically?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How often do readers need the previous document mid-meeting?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Does the progress bar reduce the 'is that all?' moment at document ends?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Which share of readers uses the keyboard at all?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</a:rPr>
              <a:t>Version 3 performs best for every persona except where the open agenda of Version 2 helps.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</a:rPr>
              <a:t>The document boundary is the critical moment — the fix belongs in the navigation panel, not the document.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</a:rPr>
              <a:t>Labels and position (local + global) matter more than more controls.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</a:rPr>
              <a:t>Validate with real directors on iPad before committing.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All results come from simulated think-aloud sessions with synthetic personas. Numbers are simulated, not measured user data, and must be validated with real users.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ard Usability">
  <a:themeElements>
    <a:clrScheme name="Board Usability">
      <a:dk1>
        <a:srgbClr val="1E293B"/>
      </a:dk1>
      <a:lt1>
        <a:srgbClr val="FFFFFF"/>
      </a:lt1>
      <a:dk2>
        <a:srgbClr val="0E1F3D"/>
      </a:dk2>
      <a:lt2>
        <a:srgbClr val="F7F9FA"/>
      </a:lt2>
      <a:accent1>
        <a:srgbClr val="0D7377"/>
      </a:accent1>
      <a:accent2>
        <a:srgbClr val="D97706"/>
      </a:accent2>
      <a:accent3>
        <a:srgbClr val="B83232"/>
      </a:accent3>
      <a:accent4>
        <a:srgbClr val="64748B"/>
      </a:accent4>
      <a:accent5>
        <a:srgbClr val="0E1F3D"/>
      </a:accent5>
      <a:accent6>
        <a:srgbClr val="2C9C74"/>
      </a:accent6>
      <a:hlink>
        <a:srgbClr val="0D7377"/>
      </a:hlink>
      <a:folHlink>
        <a:srgbClr val="64748B"/>
      </a:folHlink>
    </a:clrScheme>
    <a:fontScheme name="Board Usabilit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Book Navigation — Usability Evaluation Report</dc:title>
  <dc:subject>PptxGenJS Presentation</dc:subject>
  <dc:creator>Board Portal UX</dc:creator>
  <cp:lastModifiedBy>Board Portal UX</cp:lastModifiedBy>
  <cp:revision>1</cp:revision>
  <dcterms:created xsi:type="dcterms:W3CDTF">2026-10-19T12:46:30Z</dcterms:created>
  <dcterms:modified xsi:type="dcterms:W3CDTF">2026-10-19T12:46:30Z</dcterms:modified>
</cp:coreProperties>
</file>